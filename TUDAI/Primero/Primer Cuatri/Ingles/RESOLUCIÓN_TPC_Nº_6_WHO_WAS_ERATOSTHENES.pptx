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68" r:id="rId5"/>
    <p:sldId id="269" r:id="rId6"/>
    <p:sldId id="263" r:id="rId7"/>
    <p:sldId id="264" r:id="rId8"/>
    <p:sldId id="266" r:id="rId9"/>
    <p:sldId id="270" r:id="rId1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786" y="2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12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9 Rectángulo redondeado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7" name="6 Rectángulo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8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1" name="10 Rectángulo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7 Rectángulo redondeado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289AB29-3261-418E-9367-188A7D1CFD57}" type="datetimeFigureOut">
              <a:rPr lang="es-AR" smtClean="0"/>
              <a:pPr/>
              <a:t>07/04/2021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824D493-D050-419A-96A3-D3D2BB02AE69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0298" y="1571612"/>
            <a:ext cx="6457968" cy="2071701"/>
          </a:xfrm>
        </p:spPr>
        <p:txBody>
          <a:bodyPr>
            <a:normAutofit/>
          </a:bodyPr>
          <a:lstStyle/>
          <a:p>
            <a:r>
              <a:rPr lang="es-ES" sz="2400" dirty="0" smtClean="0">
                <a:effectLst/>
              </a:rPr>
              <a:t>Trabajo Práctico Nº 6: </a:t>
            </a:r>
            <a:r>
              <a:rPr lang="es-ES" sz="2400" dirty="0" err="1" smtClean="0">
                <a:effectLst/>
              </a:rPr>
              <a:t>Who</a:t>
            </a:r>
            <a:r>
              <a:rPr lang="es-ES" sz="2400" dirty="0" smtClean="0">
                <a:effectLst/>
              </a:rPr>
              <a:t> </a:t>
            </a:r>
            <a:r>
              <a:rPr lang="es-ES" sz="2400" dirty="0" err="1">
                <a:effectLst/>
              </a:rPr>
              <a:t>Was</a:t>
            </a:r>
            <a:r>
              <a:rPr lang="es-ES" sz="2400" dirty="0">
                <a:effectLst/>
              </a:rPr>
              <a:t> </a:t>
            </a:r>
            <a:r>
              <a:rPr lang="es-ES" sz="2400" dirty="0" err="1">
                <a:effectLst/>
              </a:rPr>
              <a:t>Eratosthenes</a:t>
            </a:r>
            <a:r>
              <a:rPr lang="es-ES" sz="2400" dirty="0" smtClean="0">
                <a:effectLst/>
              </a:rPr>
              <a:t>?</a:t>
            </a:r>
            <a:r>
              <a:rPr lang="es-AR" sz="2400" dirty="0">
                <a:effectLst/>
              </a:rPr>
              <a:t/>
            </a:r>
            <a:br>
              <a:rPr lang="es-AR" sz="2400" dirty="0">
                <a:effectLst/>
              </a:rPr>
            </a:br>
            <a:endParaRPr lang="es-AR" sz="2400" dirty="0"/>
          </a:p>
        </p:txBody>
      </p:sp>
      <p:pic>
        <p:nvPicPr>
          <p:cNvPr id="4" name="Imagen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214290"/>
            <a:ext cx="2376264" cy="89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429256" y="3357562"/>
            <a:ext cx="371474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80"/>
              </a:spcBef>
              <a:defRPr/>
            </a:pPr>
            <a:r>
              <a:rPr lang="es-ES" b="1" dirty="0" smtClean="0"/>
              <a:t>Equipo de cátedra:</a:t>
            </a:r>
          </a:p>
          <a:p>
            <a:pPr>
              <a:spcBef>
                <a:spcPts val="580"/>
              </a:spcBef>
              <a:defRPr/>
            </a:pPr>
            <a:endParaRPr lang="es-ES" b="1" dirty="0" smtClean="0"/>
          </a:p>
          <a:p>
            <a:pPr>
              <a:spcBef>
                <a:spcPts val="580"/>
              </a:spcBef>
              <a:defRPr/>
            </a:pPr>
            <a:r>
              <a:rPr lang="es-ES" b="1" dirty="0" smtClean="0"/>
              <a:t>Adjunta a cargo:  TPN Laura Otero</a:t>
            </a:r>
          </a:p>
          <a:p>
            <a:pPr>
              <a:spcBef>
                <a:spcPts val="580"/>
              </a:spcBef>
              <a:defRPr/>
            </a:pPr>
            <a:r>
              <a:rPr lang="es-ES" b="1" dirty="0" err="1" smtClean="0"/>
              <a:t>JTPs</a:t>
            </a:r>
            <a:r>
              <a:rPr lang="es-ES" b="1" dirty="0" smtClean="0"/>
              <a:t>:  Carolina </a:t>
            </a:r>
            <a:r>
              <a:rPr lang="es-ES" b="1" dirty="0"/>
              <a:t>B. </a:t>
            </a:r>
            <a:r>
              <a:rPr lang="es-ES" b="1" dirty="0" err="1" smtClean="0"/>
              <a:t>Barandiarán</a:t>
            </a:r>
            <a:r>
              <a:rPr lang="es-ES" b="1" dirty="0" smtClean="0"/>
              <a:t> y Gabriela Llaneza</a:t>
            </a:r>
          </a:p>
          <a:p>
            <a:pPr>
              <a:spcBef>
                <a:spcPts val="580"/>
              </a:spcBef>
              <a:defRPr/>
            </a:pPr>
            <a:r>
              <a:rPr lang="es-ES" b="1" dirty="0" smtClean="0"/>
              <a:t>Ayudantes diplomados:</a:t>
            </a:r>
          </a:p>
          <a:p>
            <a:pPr>
              <a:spcBef>
                <a:spcPts val="580"/>
              </a:spcBef>
              <a:defRPr/>
            </a:pPr>
            <a:r>
              <a:rPr lang="es-ES" b="1" dirty="0" smtClean="0"/>
              <a:t>Mariana Fernández </a:t>
            </a:r>
            <a:r>
              <a:rPr lang="es-ES" b="1" dirty="0" err="1" smtClean="0"/>
              <a:t>Najle</a:t>
            </a:r>
            <a:r>
              <a:rPr lang="es-ES" b="1" dirty="0" smtClean="0"/>
              <a:t>;</a:t>
            </a:r>
          </a:p>
          <a:p>
            <a:pPr>
              <a:spcBef>
                <a:spcPts val="580"/>
              </a:spcBef>
              <a:defRPr/>
            </a:pPr>
            <a:r>
              <a:rPr lang="es-ES" b="1" dirty="0" smtClean="0"/>
              <a:t>Mariana Di Rocco</a:t>
            </a:r>
          </a:p>
          <a:p>
            <a:pPr>
              <a:spcBef>
                <a:spcPts val="580"/>
              </a:spcBef>
              <a:defRPr/>
            </a:pPr>
            <a:r>
              <a:rPr lang="es-ES" b="1" dirty="0" smtClean="0"/>
              <a:t> </a:t>
            </a:r>
            <a:r>
              <a:rPr lang="es-ES" b="1" dirty="0" err="1" smtClean="0"/>
              <a:t>Sofia</a:t>
            </a:r>
            <a:r>
              <a:rPr lang="es-ES" b="1" dirty="0" smtClean="0"/>
              <a:t> Schwab</a:t>
            </a:r>
            <a:endParaRPr lang="es-ES" b="1" dirty="0"/>
          </a:p>
          <a:p>
            <a:pPr>
              <a:spcBef>
                <a:spcPts val="580"/>
              </a:spcBef>
              <a:defRPr/>
            </a:pPr>
            <a:endParaRPr lang="es-ES" b="1" dirty="0"/>
          </a:p>
          <a:p>
            <a:endParaRPr lang="es-A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786190"/>
            <a:ext cx="4467993" cy="2190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57787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796950"/>
          </a:xfrm>
        </p:spPr>
        <p:txBody>
          <a:bodyPr>
            <a:normAutofit fontScale="90000"/>
          </a:bodyPr>
          <a:lstStyle/>
          <a:p>
            <a:pPr lvl="0"/>
            <a:r>
              <a:rPr lang="es-AR" sz="2400" b="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lang="es-AR" sz="2400" b="0" dirty="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lang="es-ES" sz="2000" b="1" dirty="0" smtClean="0">
                <a:solidFill>
                  <a:schemeClr val="tx1"/>
                </a:solidFill>
                <a:latin typeface="Tw Cen MT" pitchFamily="34" charset="0"/>
                <a:ea typeface="Times New Roman" pitchFamily="18" charset="0"/>
                <a:cs typeface="Arial" pitchFamily="34" charset="0"/>
              </a:rPr>
              <a:t>TRANSFERIR </a:t>
            </a:r>
            <a:r>
              <a:rPr lang="es-ES" sz="2000" dirty="0" smtClean="0">
                <a:solidFill>
                  <a:schemeClr val="tx1"/>
                </a:solidFill>
                <a:latin typeface="Tw Cen MT" pitchFamily="34" charset="0"/>
                <a:ea typeface="Times New Roman" pitchFamily="18" charset="0"/>
                <a:cs typeface="Arial" pitchFamily="34" charset="0"/>
              </a:rPr>
              <a:t>la información necesaria para completar la siguiente tabla </a:t>
            </a:r>
            <a:r>
              <a:rPr lang="es-ES" sz="2000" b="1" u="sng" dirty="0" smtClean="0">
                <a:solidFill>
                  <a:schemeClr val="tx1"/>
                </a:solidFill>
                <a:latin typeface="Tw Cen MT" pitchFamily="34" charset="0"/>
                <a:ea typeface="Times New Roman" pitchFamily="18" charset="0"/>
                <a:cs typeface="Arial" pitchFamily="34" charset="0"/>
              </a:rPr>
              <a:t>en castellano</a:t>
            </a:r>
            <a:r>
              <a:rPr lang="es-ES" sz="2000" dirty="0" smtClean="0">
                <a:solidFill>
                  <a:schemeClr val="tx1"/>
                </a:solidFill>
                <a:latin typeface="Tw Cen MT" pitchFamily="34" charset="0"/>
                <a:ea typeface="Times New Roman" pitchFamily="18" charset="0"/>
                <a:cs typeface="Arial" pitchFamily="34" charset="0"/>
              </a:rPr>
              <a:t>.</a:t>
            </a:r>
            <a:endParaRPr lang="es-AR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xmlns="" val="1709162521"/>
              </p:ext>
            </p:extLst>
          </p:nvPr>
        </p:nvGraphicFramePr>
        <p:xfrm>
          <a:off x="251520" y="1556793"/>
          <a:ext cx="8496944" cy="516217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5968"/>
                <a:gridCol w="5890976"/>
              </a:tblGrid>
              <a:tr h="11600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 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Nacionalidad y lugar de </a:t>
                      </a: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nacimiento.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ea typeface="Times New Roman"/>
                        <a:cs typeface="Aharoni" pitchFamily="2" charset="-79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b="0" u="non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endParaRPr lang="es-AR" sz="1800" b="0" u="none" dirty="0">
                        <a:solidFill>
                          <a:schemeClr val="accent3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b="0" u="none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 </a:t>
                      </a:r>
                      <a:r>
                        <a:rPr lang="en-US" sz="1800" b="0" u="non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kumimoji="0" lang="en-US" sz="1800" b="1" u="none" kern="1200" dirty="0" err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Griego</a:t>
                      </a:r>
                      <a:r>
                        <a:rPr kumimoji="0" lang="en-U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(Greek);  </a:t>
                      </a:r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nació en XXX - Libia en la actualidad- (</a:t>
                      </a:r>
                      <a:r>
                        <a:rPr kumimoji="0" lang="en-U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was born in Cyrene (now Libya) </a:t>
                      </a:r>
                      <a:endParaRPr kumimoji="0" lang="es-AR" sz="1800" b="1" u="none" kern="12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3554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 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Se distinguió por </a:t>
                      </a: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...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ea typeface="Times New Roman"/>
                        <a:cs typeface="Aharoni" pitchFamily="2" charset="-79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s-ES" sz="1800" b="1" u="none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un mapa basado en las líneas de longitud y latitud para calcular el tamaño de la Tierra.  (</a:t>
                      </a:r>
                      <a:r>
                        <a:rPr kumimoji="0" lang="en-U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 </a:t>
                      </a:r>
                      <a:r>
                        <a:rPr lang="en-US" sz="1800" u="none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is noted for devising a map system based on latitude and longitude lines and computing the size of the Earth).</a:t>
                      </a:r>
                      <a:r>
                        <a:rPr lang="es-ES" sz="1800" b="0" u="non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 </a:t>
                      </a:r>
                      <a:endParaRPr lang="es-AR" sz="1800" b="0" u="non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867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 </a:t>
                      </a:r>
                      <a:endParaRPr lang="es-ES" sz="1800" dirty="0" smtClean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Trabajó </a:t>
                      </a: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como  </a:t>
                      </a: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...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ea typeface="Times New Roman"/>
                        <a:cs typeface="Aharoni" pitchFamily="2" charset="-79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u="none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Bibliotecólogo en la biblioteca de Alejandría.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n-U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(librarian of the Alexandrian library.)</a:t>
                      </a:r>
                      <a:endParaRPr kumimoji="0" lang="es-AR" sz="1800" b="1" u="none" kern="12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9561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Hizo aportes a </a:t>
                      </a: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 ...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 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ea typeface="Times New Roman"/>
                        <a:cs typeface="Aharoni" pitchFamily="2" charset="-79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kumimoji="0" lang="es-ES" sz="1800" b="1" u="none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 matemáticas y la ciencia.  (</a:t>
                      </a:r>
                      <a:r>
                        <a:rPr lang="en-US" sz="1800" u="none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He made several important contributions to mathematics and science).</a:t>
                      </a:r>
                      <a:endParaRPr lang="es-AR" sz="1800" b="0" u="none" dirty="0">
                        <a:solidFill>
                          <a:schemeClr val="accent6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7733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Áreas de </a:t>
                      </a:r>
                      <a:r>
                        <a:rPr lang="es-ES" sz="1800" dirty="0" smtClean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estudio ...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cs typeface="Aharoni" pitchFamily="2" charset="-79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800" dirty="0">
                          <a:solidFill>
                            <a:schemeClr val="tx2"/>
                          </a:solidFill>
                          <a:effectLst/>
                          <a:latin typeface="Aharoni" pitchFamily="2" charset="-79"/>
                          <a:cs typeface="Aharoni" pitchFamily="2" charset="-79"/>
                        </a:rPr>
                        <a:t> </a:t>
                      </a:r>
                      <a:endParaRPr lang="es-AR" sz="1800" dirty="0">
                        <a:solidFill>
                          <a:schemeClr val="tx2"/>
                        </a:solidFill>
                        <a:effectLst/>
                        <a:latin typeface="Aharoni" pitchFamily="2" charset="-79"/>
                        <a:ea typeface="Times New Roman"/>
                        <a:cs typeface="Aharoni" pitchFamily="2" charset="-79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s-ES" sz="1800" b="1" u="none" kern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Matemáticas</a:t>
                      </a:r>
                    </a:p>
                    <a:p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Geografía</a:t>
                      </a:r>
                    </a:p>
                    <a:p>
                      <a:r>
                        <a:rPr kumimoji="0" lang="es-ES" sz="1800" b="1" u="none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Astronomía</a:t>
                      </a:r>
                      <a:endParaRPr kumimoji="0" lang="es-AR" sz="1800" b="1" u="none" kern="12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8260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11156"/>
          </a:xfrm>
        </p:spPr>
        <p:txBody>
          <a:bodyPr>
            <a:normAutofit/>
          </a:bodyPr>
          <a:lstStyle/>
          <a:p>
            <a:r>
              <a:rPr lang="es-ES" sz="1800" b="1" dirty="0" smtClean="0"/>
              <a:t>COMPLETAR </a:t>
            </a:r>
            <a:r>
              <a:rPr lang="es-ES" sz="1800" dirty="0" smtClean="0"/>
              <a:t>las definiciones con la información que aporta el texto.</a:t>
            </a:r>
            <a:endParaRPr lang="es-AR" sz="18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914400" y="1000108"/>
            <a:ext cx="3749040" cy="5019692"/>
          </a:xfrm>
        </p:spPr>
        <p:txBody>
          <a:bodyPr>
            <a:normAutofit/>
          </a:bodyPr>
          <a:lstStyle/>
          <a:p>
            <a:r>
              <a:rPr lang="es-AR" i="1" dirty="0" err="1" smtClean="0">
                <a:solidFill>
                  <a:schemeClr val="accent3">
                    <a:lumMod val="50000"/>
                  </a:schemeClr>
                </a:solidFill>
              </a:rPr>
              <a:t>An</a:t>
            </a:r>
            <a:r>
              <a:rPr lang="es-AR" i="1" dirty="0" smtClean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s-AR" i="1" dirty="0" err="1" smtClean="0">
                <a:solidFill>
                  <a:schemeClr val="accent3">
                    <a:lumMod val="50000"/>
                  </a:schemeClr>
                </a:solidFill>
              </a:rPr>
              <a:t>orrery</a:t>
            </a:r>
            <a:r>
              <a:rPr lang="es-AR" i="1" dirty="0" smtClean="0">
                <a:solidFill>
                  <a:schemeClr val="accent3">
                    <a:lumMod val="50000"/>
                  </a:schemeClr>
                </a:solidFill>
              </a:rPr>
              <a:t> (antiguo </a:t>
            </a:r>
            <a:r>
              <a:rPr lang="es-AR" i="1" dirty="0" err="1" smtClean="0">
                <a:solidFill>
                  <a:schemeClr val="accent3">
                    <a:lumMod val="50000"/>
                  </a:schemeClr>
                </a:solidFill>
              </a:rPr>
              <a:t>plantetario</a:t>
            </a:r>
            <a:r>
              <a:rPr lang="es-AR" i="1" dirty="0" smtClean="0">
                <a:solidFill>
                  <a:schemeClr val="accent3">
                    <a:lumMod val="50000"/>
                  </a:schemeClr>
                </a:solidFill>
              </a:rPr>
              <a:t> de mesa)</a:t>
            </a:r>
          </a:p>
          <a:p>
            <a:pPr algn="just"/>
            <a:r>
              <a:rPr lang="es-AR" i="1" dirty="0" smtClean="0">
                <a:solidFill>
                  <a:schemeClr val="accent3">
                    <a:lumMod val="50000"/>
                  </a:schemeClr>
                </a:solidFill>
              </a:rPr>
              <a:t>El planetario es un modelo del sistema solar que ilustra o predice la posición relativo y movimiento de los planetas y lunas, usualmente siguiendo el modelo heliocéntrico. </a:t>
            </a:r>
          </a:p>
          <a:p>
            <a:pPr algn="just"/>
            <a:endParaRPr lang="es-AR" i="1" dirty="0" smtClean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s-ES" i="1" dirty="0" smtClean="0">
                <a:solidFill>
                  <a:schemeClr val="accent3">
                    <a:lumMod val="50000"/>
                  </a:schemeClr>
                </a:solidFill>
              </a:rPr>
              <a:t>ARMILLARY SPHERE (esfera armilar o </a:t>
            </a:r>
            <a:r>
              <a:rPr lang="es-ES" i="1" dirty="0" err="1" smtClean="0">
                <a:solidFill>
                  <a:schemeClr val="accent3">
                    <a:lumMod val="50000"/>
                  </a:schemeClr>
                </a:solidFill>
              </a:rPr>
              <a:t>estrolabio</a:t>
            </a:r>
            <a:r>
              <a:rPr lang="es-ES" i="1" dirty="0" smtClean="0">
                <a:solidFill>
                  <a:schemeClr val="accent3">
                    <a:lumMod val="50000"/>
                  </a:schemeClr>
                </a:solidFill>
              </a:rPr>
              <a:t>).  </a:t>
            </a:r>
          </a:p>
          <a:p>
            <a:r>
              <a:rPr lang="es-AR" i="1" dirty="0" smtClean="0">
                <a:solidFill>
                  <a:schemeClr val="accent3">
                    <a:lumMod val="50000"/>
                  </a:schemeClr>
                </a:solidFill>
              </a:rPr>
              <a:t>El astrolabio es un instrumento astronómico para determinar la posición  de los astros. </a:t>
            </a:r>
          </a:p>
          <a:p>
            <a:endParaRPr lang="es-ES" i="1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irc_mi" descr="mdpopescu_armobs_orrery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4357694"/>
            <a:ext cx="1837825" cy="200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3643314"/>
            <a:ext cx="1808084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95709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SEGUNDA PARTE </a:t>
            </a:r>
            <a:r>
              <a:rPr lang="en-US" sz="3100" dirty="0" smtClean="0"/>
              <a:t/>
            </a:r>
            <a:br>
              <a:rPr lang="en-US" sz="3100" dirty="0" smtClean="0"/>
            </a:br>
            <a:r>
              <a:rPr lang="es-ES" sz="3100" dirty="0" smtClean="0">
                <a:effectLst/>
              </a:rPr>
              <a:t>Escribir </a:t>
            </a:r>
            <a:r>
              <a:rPr lang="es-ES" sz="3100" dirty="0">
                <a:effectLst/>
              </a:rPr>
              <a:t>en castellano las 7 contribuciones 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 smtClean="0"/>
              <a:t>Eratosthenes</a:t>
            </a:r>
            <a:r>
              <a:rPr lang="en-US" dirty="0"/>
              <a:t>' other contributions include:</a:t>
            </a:r>
            <a:endParaRPr lang="es-AR" dirty="0"/>
          </a:p>
          <a:p>
            <a:pPr lvl="0"/>
            <a:r>
              <a:rPr lang="en-US" dirty="0"/>
              <a:t>The Sieve of Eratosthenes as a way of finding prime numbers. </a:t>
            </a:r>
            <a:endParaRPr lang="en-US" dirty="0" smtClean="0"/>
          </a:p>
          <a:p>
            <a:pPr lvl="0"/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criba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Eratosthenes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como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algoritmo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para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identificar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numeros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primos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. </a:t>
            </a:r>
          </a:p>
          <a:p>
            <a:pPr lvl="0"/>
            <a:r>
              <a:rPr lang="en-US" dirty="0" smtClean="0"/>
              <a:t>The </a:t>
            </a:r>
            <a:r>
              <a:rPr lang="en-US" dirty="0"/>
              <a:t>measurement of the Sun-Earth distance, now called the astronomical unit </a:t>
            </a:r>
            <a:r>
              <a:rPr lang="en-US" dirty="0" smtClean="0"/>
              <a:t>.</a:t>
            </a:r>
          </a:p>
          <a:p>
            <a:pPr lvl="0"/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medida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distancia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del sol a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tierra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ahora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llamado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unidad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astronómica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. </a:t>
            </a:r>
            <a:endParaRPr lang="es-AR" i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1892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smtClean="0"/>
              <a:t>SEGUNDA PARTE (RESOLUCIÓN ORIENTATIVA)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 smtClean="0"/>
              <a:t/>
            </a:r>
            <a:br>
              <a:rPr lang="en-US" sz="3100" dirty="0" smtClean="0"/>
            </a:br>
            <a:r>
              <a:rPr lang="es-ES" sz="3100" dirty="0" smtClean="0">
                <a:effectLst/>
              </a:rPr>
              <a:t>Escribir </a:t>
            </a:r>
            <a:r>
              <a:rPr lang="es-ES" sz="3100" dirty="0">
                <a:effectLst/>
              </a:rPr>
              <a:t>en castellano las 7 contribuciones 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 smtClean="0"/>
              <a:t>The </a:t>
            </a:r>
            <a:r>
              <a:rPr lang="en-US" dirty="0"/>
              <a:t>measurement of the distance to the Moon (780,000 stadia). </a:t>
            </a:r>
            <a:endParaRPr lang="en-US" dirty="0" smtClean="0"/>
          </a:p>
          <a:p>
            <a:pPr lvl="0" algn="just"/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medida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distancia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a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luna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 marL="109728" lvl="0" indent="0" algn="just">
              <a:buNone/>
            </a:pPr>
            <a:endParaRPr lang="en-US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algn="just"/>
            <a:r>
              <a:rPr lang="en-US" dirty="0"/>
              <a:t>The measurement of the inclination of the </a:t>
            </a:r>
            <a:r>
              <a:rPr lang="en-US" u="sng" dirty="0"/>
              <a:t>ecliptic</a:t>
            </a:r>
            <a:r>
              <a:rPr lang="en-US" dirty="0"/>
              <a:t> with an angle error of 7'. </a:t>
            </a:r>
            <a:endParaRPr lang="en-US" dirty="0" smtClean="0"/>
          </a:p>
          <a:p>
            <a:pPr algn="just"/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medida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inclinación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eclíptica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con un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ángulo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error de 7’</a:t>
            </a:r>
            <a:endParaRPr lang="es-AR" i="1" dirty="0">
              <a:solidFill>
                <a:schemeClr val="accent3">
                  <a:lumMod val="75000"/>
                </a:schemeClr>
              </a:solidFill>
            </a:endParaRPr>
          </a:p>
          <a:p>
            <a:pPr lvl="0"/>
            <a:endParaRPr lang="es-AR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21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/>
              <a:t>SEGUNDA PARTE </a:t>
            </a:r>
            <a:r>
              <a:rPr lang="en-US" sz="3100" dirty="0" smtClean="0"/>
              <a:t/>
            </a:r>
            <a:br>
              <a:rPr lang="en-US" sz="3100" dirty="0" smtClean="0"/>
            </a:br>
            <a:r>
              <a:rPr lang="es-ES" sz="3100" dirty="0" smtClean="0">
                <a:effectLst/>
              </a:rPr>
              <a:t>Escribir </a:t>
            </a:r>
            <a:r>
              <a:rPr lang="es-ES" sz="3100" dirty="0">
                <a:effectLst/>
              </a:rPr>
              <a:t>en castellano las 7 contribuciones 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457200" y="1124744"/>
            <a:ext cx="8229600" cy="4882547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 smtClean="0"/>
              <a:t>He </a:t>
            </a:r>
            <a:r>
              <a:rPr lang="en-US" dirty="0"/>
              <a:t>compiled a star catalogue containing 675 stars, which was not preserved. </a:t>
            </a:r>
            <a:endParaRPr lang="en-US" dirty="0" smtClean="0"/>
          </a:p>
          <a:p>
            <a:pPr lvl="0"/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Compiló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un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catálogo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675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estrellas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que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no se ha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preservado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pPr lvl="0"/>
            <a:endParaRPr lang="es-AR" dirty="0"/>
          </a:p>
          <a:p>
            <a:pPr lvl="0"/>
            <a:r>
              <a:rPr lang="en-US" dirty="0"/>
              <a:t>A map of the Nile's route as far as Khartoum</a:t>
            </a:r>
            <a:r>
              <a:rPr lang="en-US" dirty="0" smtClean="0"/>
              <a:t>.</a:t>
            </a:r>
          </a:p>
          <a:p>
            <a:pPr lvl="0"/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Un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mapa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 la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ruta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del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Nilo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hasta Khartoum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pPr lvl="0"/>
            <a:endParaRPr lang="en-US" i="1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0"/>
            <a:endParaRPr lang="en-US" i="1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marL="109728" lvl="0" indent="0">
              <a:buNone/>
            </a:pPr>
            <a:r>
              <a:rPr lang="en-US" dirty="0" smtClean="0"/>
              <a:t> </a:t>
            </a:r>
            <a:endParaRPr lang="en-US" dirty="0" smtClean="0"/>
          </a:p>
          <a:p>
            <a:pPr marL="109728" lvl="0" indent="0">
              <a:buNone/>
            </a:pPr>
            <a:endParaRPr lang="en-US" dirty="0" smtClean="0"/>
          </a:p>
          <a:p>
            <a:pPr marL="109728" lvl="0" indent="0">
              <a:buNone/>
            </a:pPr>
            <a:endParaRPr lang="es-AR" dirty="0"/>
          </a:p>
          <a:p>
            <a:r>
              <a:rPr lang="en-US" dirty="0"/>
              <a:t>A map of the entire known world, from the British Isles to Ceylon, and from the Caspian Sea to Ethiopia. </a:t>
            </a:r>
            <a:endParaRPr lang="en-US" dirty="0" smtClean="0"/>
          </a:p>
          <a:p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Un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mapa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del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mundo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conocido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hasta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en-US" i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entonces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desde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las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Islas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Británicas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hasta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Ceylan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, y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desde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el mar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Caspio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hasta </a:t>
            </a:r>
            <a:r>
              <a:rPr lang="en-US" i="1" dirty="0" err="1" smtClean="0">
                <a:solidFill>
                  <a:schemeClr val="accent3">
                    <a:lumMod val="75000"/>
                  </a:schemeClr>
                </a:solidFill>
              </a:rPr>
              <a:t>Etipia</a:t>
            </a:r>
            <a:r>
              <a:rPr lang="en-US" i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s-AR" i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2000240"/>
            <a:ext cx="2928926" cy="2562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50256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2000" b="1" dirty="0" smtClean="0"/>
              <a:t>CONTESTAR </a:t>
            </a:r>
            <a:r>
              <a:rPr lang="es-ES" sz="2000" dirty="0" smtClean="0"/>
              <a:t>las siguientes preguntas para verificar la comprensión lectora. </a:t>
            </a:r>
            <a:endParaRPr lang="es-AR" sz="2000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1">
              <a:buNone/>
            </a:pPr>
            <a:r>
              <a:rPr lang="es-ES" sz="2400" dirty="0" smtClean="0"/>
              <a:t>A- ¿Por </a:t>
            </a:r>
            <a:r>
              <a:rPr lang="es-ES" sz="2400" dirty="0"/>
              <a:t>qué siempre se recordará a </a:t>
            </a:r>
            <a:r>
              <a:rPr lang="es-ES" sz="2400" dirty="0" err="1"/>
              <a:t>Eratosthenes</a:t>
            </a:r>
            <a:r>
              <a:rPr lang="es-ES" sz="2400" dirty="0" smtClean="0"/>
              <a:t>?</a:t>
            </a:r>
          </a:p>
          <a:p>
            <a:pPr lvl="1"/>
            <a:r>
              <a:rPr lang="es-ES" dirty="0" smtClean="0"/>
              <a:t>Se lo recordará por ser quien midió la circunferencia del planeta Tierra alrededor de 240 A.C.</a:t>
            </a:r>
          </a:p>
          <a:p>
            <a:pPr lvl="1">
              <a:buNone/>
            </a:pPr>
            <a:r>
              <a:rPr lang="es-ES" sz="2400" dirty="0" smtClean="0"/>
              <a:t>B- ¿Qué </a:t>
            </a:r>
            <a:r>
              <a:rPr lang="es-ES" sz="2400" dirty="0"/>
              <a:t>conocimientos utilizó</a:t>
            </a:r>
            <a:r>
              <a:rPr lang="es-ES" sz="2400" dirty="0" smtClean="0"/>
              <a:t>?</a:t>
            </a:r>
          </a:p>
          <a:p>
            <a:pPr lvl="1"/>
            <a:r>
              <a:rPr lang="es-ES" dirty="0" smtClean="0"/>
              <a:t>Utilizó conocimientos de trigonometría y conocimientos sobre el ángulo de elevación del sol al mediodía en Alejandría y </a:t>
            </a:r>
            <a:r>
              <a:rPr lang="es-ES" dirty="0" err="1" smtClean="0"/>
              <a:t>Syene</a:t>
            </a:r>
            <a:r>
              <a:rPr lang="es-ES" dirty="0" smtClean="0"/>
              <a:t> (hoy </a:t>
            </a:r>
            <a:r>
              <a:rPr lang="es-ES" dirty="0" err="1" smtClean="0"/>
              <a:t>Asuan</a:t>
            </a:r>
            <a:r>
              <a:rPr lang="es-ES" dirty="0" smtClean="0"/>
              <a:t>, Egipto) </a:t>
            </a:r>
          </a:p>
          <a:p>
            <a:pPr lvl="1">
              <a:buNone/>
            </a:pPr>
            <a:r>
              <a:rPr lang="es-ES" sz="2400" dirty="0" smtClean="0"/>
              <a:t>C- ¿En </a:t>
            </a:r>
            <a:r>
              <a:rPr lang="es-ES" sz="2400" dirty="0"/>
              <a:t>qué hipótesis se basó el cálculo que se hace referencia en este párrafo</a:t>
            </a:r>
            <a:r>
              <a:rPr lang="es-ES" sz="2400" dirty="0" smtClean="0"/>
              <a:t>?</a:t>
            </a:r>
          </a:p>
          <a:p>
            <a:pPr lvl="1">
              <a:buNone/>
            </a:pPr>
            <a:r>
              <a:rPr lang="es-ES" dirty="0" smtClean="0"/>
              <a:t>    Se basó en la hipótesis de que la Tierra es esférica y que el sol se encuentra tan lejos que sus rayos pueden ser tomados como paralelos. </a:t>
            </a:r>
          </a:p>
          <a:p>
            <a:pPr lvl="1">
              <a:buNone/>
            </a:pPr>
            <a:endParaRPr lang="es-AR" sz="2400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xmlns="" val="105280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s-ES" b="1" dirty="0"/>
              <a:t>SUBRAYE </a:t>
            </a:r>
            <a:r>
              <a:rPr lang="es-ES" dirty="0"/>
              <a:t>en la segunda parte del texto las estructuras pasivas, </a:t>
            </a:r>
            <a:r>
              <a:rPr lang="es-ES" dirty="0" smtClean="0"/>
              <a:t>I</a:t>
            </a:r>
            <a:r>
              <a:rPr lang="es-ES" b="1" dirty="0" smtClean="0"/>
              <a:t>NDIQUE</a:t>
            </a:r>
            <a:r>
              <a:rPr lang="es-ES" dirty="0" smtClean="0"/>
              <a:t> </a:t>
            </a:r>
            <a:r>
              <a:rPr lang="es-ES" dirty="0"/>
              <a:t>la frase verbal en cada caso y</a:t>
            </a:r>
            <a:r>
              <a:rPr lang="es-ES" b="1" dirty="0"/>
              <a:t> TRADÚZCALAS</a:t>
            </a:r>
            <a:r>
              <a:rPr lang="es-ES" dirty="0"/>
              <a:t> al castellano</a:t>
            </a:r>
            <a:r>
              <a:rPr lang="es-ES" b="1" dirty="0"/>
              <a:t>.  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Eratosthenes </a:t>
            </a:r>
            <a:r>
              <a:rPr lang="en-US" b="1" u="sng" dirty="0" smtClean="0"/>
              <a:t>will </a:t>
            </a:r>
            <a:r>
              <a:rPr lang="en-US" dirty="0" smtClean="0"/>
              <a:t>(always) </a:t>
            </a:r>
            <a:r>
              <a:rPr lang="en-US" b="1" u="sng" dirty="0" smtClean="0"/>
              <a:t>be remembered</a:t>
            </a:r>
            <a:r>
              <a:rPr lang="en-US" b="1" dirty="0" smtClean="0"/>
              <a:t> 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será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recordado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dirty="0" smtClean="0"/>
              <a:t>for </a:t>
            </a:r>
            <a:r>
              <a:rPr lang="en-US" dirty="0" smtClean="0"/>
              <a:t>the calculation of the Earth's circumference circa 240 B.C., using trigonometry and knowledge of the angle of elevation of the Sun at noon in Alexandria and </a:t>
            </a:r>
            <a:r>
              <a:rPr lang="en-US" dirty="0" err="1" smtClean="0"/>
              <a:t>Syrene</a:t>
            </a:r>
            <a:r>
              <a:rPr lang="en-US" dirty="0" smtClean="0"/>
              <a:t> (now Aswan, Egypt). The calculation </a:t>
            </a:r>
            <a:r>
              <a:rPr lang="en-US" b="1" u="sng" dirty="0" smtClean="0"/>
              <a:t>is </a:t>
            </a:r>
            <a:r>
              <a:rPr lang="en-US" b="1" u="sng" dirty="0" smtClean="0"/>
              <a:t>based 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 (se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basa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) </a:t>
            </a:r>
            <a:r>
              <a:rPr lang="en-US" dirty="0" smtClean="0"/>
              <a:t>on </a:t>
            </a:r>
            <a:r>
              <a:rPr lang="en-US" dirty="0" smtClean="0"/>
              <a:t>the assumption that the Earth is spherical and that the Sun is so far away that its rays </a:t>
            </a:r>
            <a:r>
              <a:rPr lang="en-US" b="1" u="sng" dirty="0" smtClean="0"/>
              <a:t>can be taken 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puede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pueden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considerarse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) </a:t>
            </a:r>
            <a:r>
              <a:rPr lang="en-US" dirty="0" smtClean="0"/>
              <a:t>as </a:t>
            </a:r>
            <a:r>
              <a:rPr lang="en-US" dirty="0" smtClean="0"/>
              <a:t>parallel.</a:t>
            </a:r>
            <a:endParaRPr lang="es-ES" dirty="0" smtClean="0"/>
          </a:p>
          <a:p>
            <a:pPr algn="just">
              <a:buNone/>
            </a:pPr>
            <a:endParaRPr lang="es-ES" dirty="0" smtClean="0"/>
          </a:p>
          <a:p>
            <a:pPr algn="just"/>
            <a:r>
              <a:rPr lang="en-US" dirty="0" smtClean="0"/>
              <a:t>Details of this method </a:t>
            </a:r>
            <a:r>
              <a:rPr lang="en-US" b="1" u="sng" dirty="0" smtClean="0"/>
              <a:t>were published</a:t>
            </a:r>
            <a:r>
              <a:rPr lang="en-US" dirty="0" smtClean="0"/>
              <a:t> </a:t>
            </a:r>
            <a:r>
              <a:rPr lang="en-US" dirty="0" smtClean="0"/>
              <a:t>(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se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pulblicaron</a:t>
            </a:r>
            <a:r>
              <a:rPr lang="en-US" dirty="0" smtClean="0"/>
              <a:t>) in </a:t>
            </a:r>
            <a:r>
              <a:rPr lang="en-US" dirty="0" smtClean="0"/>
              <a:t>a work </a:t>
            </a:r>
            <a:r>
              <a:rPr lang="en-US" i="1" dirty="0" smtClean="0"/>
              <a:t>On the measurement of the Earth </a:t>
            </a:r>
            <a:r>
              <a:rPr lang="en-US" dirty="0" smtClean="0"/>
              <a:t>which unfortunately </a:t>
            </a:r>
            <a:r>
              <a:rPr lang="en-US" b="1" u="sng" dirty="0" smtClean="0"/>
              <a:t>was </a:t>
            </a:r>
            <a:r>
              <a:rPr lang="en-US" b="1" u="sng" dirty="0" smtClean="0"/>
              <a:t>lost 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(se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perdió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/ se </a:t>
            </a:r>
            <a:r>
              <a:rPr lang="en-US" b="1" i="1" dirty="0" err="1" smtClean="0">
                <a:solidFill>
                  <a:schemeClr val="bg2">
                    <a:lumMod val="75000"/>
                  </a:schemeClr>
                </a:solidFill>
              </a:rPr>
              <a:t>extravió</a:t>
            </a:r>
            <a:r>
              <a:rPr lang="en-US" b="1" i="1" dirty="0" smtClean="0">
                <a:solidFill>
                  <a:schemeClr val="bg2">
                    <a:lumMod val="75000"/>
                  </a:schemeClr>
                </a:solidFill>
              </a:rPr>
              <a:t>). </a:t>
            </a:r>
            <a:r>
              <a:rPr lang="en-US" dirty="0" smtClean="0"/>
              <a:t>We know indirectly about his method from other authors.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dad">
  <a:themeElements>
    <a:clrScheme name="Equida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dad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dad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7366</TotalTime>
  <Words>592</Words>
  <Application>Microsoft Office PowerPoint</Application>
  <PresentationFormat>Presentación en pantalla (4:3)</PresentationFormat>
  <Paragraphs>76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Equidad</vt:lpstr>
      <vt:lpstr>Trabajo Práctico Nº 6: Who Was Eratosthenes? </vt:lpstr>
      <vt:lpstr> TRANSFERIR la información necesaria para completar la siguiente tabla en castellano.</vt:lpstr>
      <vt:lpstr>COMPLETAR las definiciones con la información que aporta el texto.</vt:lpstr>
      <vt:lpstr>SEGUNDA PARTE  Escribir en castellano las 7 contribuciones  </vt:lpstr>
      <vt:lpstr>Diapositiva 5</vt:lpstr>
      <vt:lpstr> Escribir en castellano las 7 contribuciones  </vt:lpstr>
      <vt:lpstr>SEGUNDA PARTE  Escribir en castellano las 7 contribuciones  </vt:lpstr>
      <vt:lpstr>CONTESTAR las siguientes preguntas para verificar la comprensión lectora. </vt:lpstr>
      <vt:lpstr>SUBRAYE en la segunda parte del texto las estructuras pasivas, INDIQUE la frase verbal en cada caso y TRADÚZCALAS al castellano.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Was Eratosthenes?</dc:title>
  <dc:creator>Ardilla</dc:creator>
  <cp:lastModifiedBy>Usuario</cp:lastModifiedBy>
  <cp:revision>27</cp:revision>
  <dcterms:created xsi:type="dcterms:W3CDTF">2017-04-11T20:13:16Z</dcterms:created>
  <dcterms:modified xsi:type="dcterms:W3CDTF">2021-04-07T17:37:31Z</dcterms:modified>
</cp:coreProperties>
</file>